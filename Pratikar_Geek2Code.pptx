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Pratikar. Two documents in, a decision and a filed-ready letter out. The card on the right is a real output from our pipeline.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on the person, then the scale. Every figure is from a named government or regulator source dated 2026.</a:t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asymmetry is the whole argument. Deliver the last two bars and pause. We use the strict definition of a win - awards only.</a:t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inputs are documents the user already has. No gated API, no insurer partnership, no simulated data. The Weak verdict is our credibility feature.</a:t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evidence trail is the trust mechanism and the screen we spend the most demo time on.</a:t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slide that separates us from every other LLM project in the room. Say the headline out loud, exactly as written.</a:t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left to right. The two-path split is the answer to the hallucination question - have it on screen before anyone asks.</a:t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asked about precedent: awards are not published in bulk, so we do not claim a precedent corpus. Saying so is a strength.</a:t>
            </a:r>
            <a:endParaRPr/>
          </a:p>
        </p:txBody>
      </p:sp>
      <p:sp>
        <p:nvSpPr>
          <p:cNvPr id="218" name="Google Shape;2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not let anyone suggest charging the individual. Judges react badly to monetising distress, and rightly.</a:t>
            </a:r>
            <a:endParaRPr/>
          </a:p>
        </p:txBody>
      </p:sp>
      <p:sp>
        <p:nvSpPr>
          <p:cNvPr id="252" name="Google Shape;2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members build; three own the regulatory rulebook, design and testing - work that makes the product defensible and never blocks the code path.</a:t>
            </a:r>
            <a:endParaRPr/>
          </a:p>
        </p:txBody>
      </p:sp>
      <p:sp>
        <p:nvSpPr>
          <p:cNvPr id="278" name="Google Shape;27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on the asymmetry. It is the single most memorable thing in the deck.</a:t>
            </a:r>
            <a:endParaRPr/>
          </a:p>
        </p:txBody>
      </p:sp>
      <p:sp>
        <p:nvSpPr>
          <p:cNvPr id="317" name="Google Shape;31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9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566928" y="548640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GEEK2CODE 2026   ·   FINTECH / INSURTECH   ·   OPEN INNOVATION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566928" y="960120"/>
            <a:ext cx="6583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mbria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Pratikar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66928" y="2121408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E08A2E"/>
                </a:solidFill>
                <a:latin typeface="Cambria"/>
                <a:ea typeface="Cambria"/>
                <a:cs typeface="Cambria"/>
                <a:sym typeface="Cambria"/>
              </a:rPr>
              <a:t>Your health insurance claim was rejected.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E08A2E"/>
                </a:solidFill>
                <a:latin typeface="Cambria"/>
                <a:ea typeface="Cambria"/>
                <a:cs typeface="Cambria"/>
                <a:sym typeface="Cambria"/>
              </a:rPr>
              <a:t>Find out whether that was legal — and fight it.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66928" y="3346704"/>
            <a:ext cx="6309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A8BBC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8BBCC"/>
                </a:solidFill>
                <a:latin typeface="Calibri"/>
                <a:ea typeface="Calibri"/>
                <a:cs typeface="Calibri"/>
                <a:sym typeface="Calibri"/>
              </a:rPr>
              <a:t>A free tool that reads your rejection letter against your own policy wording and India's insurance regulations, tells you whether the rejection can be contested, and drafts the appeal.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566928" y="4882896"/>
            <a:ext cx="6309360" cy="0"/>
          </a:xfrm>
          <a:prstGeom prst="straightConnector1">
            <a:avLst/>
          </a:prstGeom>
          <a:noFill/>
          <a:ln cap="flat" cmpd="sng" w="12700">
            <a:solidFill>
              <a:srgbClr val="2A4A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 txBox="1"/>
          <p:nvPr/>
        </p:nvSpPr>
        <p:spPr>
          <a:xfrm>
            <a:off x="566928" y="5065776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Sid  ·  Pratham  ·  Navya  ·  Parnika  ·  Dhiraj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566928" y="5394960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B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BBCC"/>
                </a:solidFill>
                <a:latin typeface="Calibri"/>
                <a:ea typeface="Calibri"/>
                <a:cs typeface="Calibri"/>
                <a:sym typeface="Calibri"/>
              </a:rPr>
              <a:t>Five-member team  ·  B.Tech Information Technology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635240" y="1051560"/>
            <a:ext cx="3977640" cy="4617720"/>
          </a:xfrm>
          <a:prstGeom prst="roundRect">
            <a:avLst>
              <a:gd fmla="val 1379" name="adj"/>
            </a:avLst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7918704" y="1298448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D99A6"/>
                </a:solidFill>
                <a:latin typeface="Calibri"/>
                <a:ea typeface="Calibri"/>
                <a:cs typeface="Calibri"/>
                <a:sym typeface="Calibri"/>
              </a:rPr>
              <a:t>CLAIM REJECTION ANALYSIS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918704" y="1627632"/>
            <a:ext cx="1783080" cy="402336"/>
          </a:xfrm>
          <a:prstGeom prst="roundRect">
            <a:avLst>
              <a:gd fmla="val 11364" name="adj"/>
            </a:avLst>
          </a:prstGeom>
          <a:solidFill>
            <a:srgbClr val="2E7D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 txBox="1"/>
          <p:nvPr/>
        </p:nvSpPr>
        <p:spPr>
          <a:xfrm>
            <a:off x="7918704" y="1627632"/>
            <a:ext cx="1783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STRONG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7918704" y="2231136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Insurer cited Clause 4.2 — pre-existing disease.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7918704" y="2688336"/>
            <a:ext cx="342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Your policy has run 68 continuous months.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515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IRDAI moratorium threshold: 60 months.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515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After it, non-disclosure is not a valid ground for repudiation.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3"/>
          <p:cNvCxnSpPr/>
          <p:nvPr/>
        </p:nvCxnSpPr>
        <p:spPr>
          <a:xfrm>
            <a:off x="7918704" y="4169664"/>
            <a:ext cx="3429000" cy="0"/>
          </a:xfrm>
          <a:prstGeom prst="straightConnector1">
            <a:avLst/>
          </a:prstGeom>
          <a:noFill/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 txBox="1"/>
          <p:nvPr/>
        </p:nvSpPr>
        <p:spPr>
          <a:xfrm>
            <a:off x="7918704" y="4297680"/>
            <a:ext cx="3429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8D99A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D99A6"/>
                </a:solidFill>
                <a:latin typeface="Calibri"/>
                <a:ea typeface="Calibri"/>
                <a:cs typeface="Calibri"/>
                <a:sym typeface="Calibri"/>
              </a:rPr>
              <a:t>Source: your policy, p.14  ·  IRDAI Master Circular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8D99A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D99A6"/>
                </a:solidFill>
                <a:latin typeface="Calibri"/>
                <a:ea typeface="Calibri"/>
                <a:cs typeface="Calibri"/>
                <a:sym typeface="Calibri"/>
              </a:rPr>
              <a:t>on Health Insurance 2024, clause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7918704" y="4919472"/>
            <a:ext cx="3429000" cy="502920"/>
          </a:xfrm>
          <a:prstGeom prst="roundRect">
            <a:avLst>
              <a:gd fmla="val 9091" name="adj"/>
            </a:avLst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 txBox="1"/>
          <p:nvPr/>
        </p:nvSpPr>
        <p:spPr>
          <a:xfrm>
            <a:off x="7918704" y="4919472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Generate appeal letter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/>
        </p:nvSpPr>
        <p:spPr>
          <a:xfrm>
            <a:off x="566928" y="502920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566928" y="777240"/>
            <a:ext cx="11027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A claim is rejected. The family has no way to know if that was legal.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566928" y="1874520"/>
            <a:ext cx="5852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A patient is hospitalised. The claim is filed. Weeks later a letter arrives: rejected, citing “Clause 4.2 — pre-existing disease.”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566928" y="2578608"/>
            <a:ext cx="5852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To know whether that clause actually applies, someone must read a 60-page policy wording against the rejection letter, and both against IRDAI regulation. That is skilled legal work. Almost no policyholder can do it — so the rejection goes unchallenged, and the household absorbs the cost.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566928" y="4114800"/>
            <a:ext cx="5852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This is not a rare event. Health insurance is now the single largest source of insurance grievance in India.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656832" y="1874520"/>
            <a:ext cx="4956048" cy="1371600"/>
          </a:xfrm>
          <a:prstGeom prst="roundRect">
            <a:avLst>
              <a:gd fmla="val 4000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6912864" y="199339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08A2E"/>
                </a:solidFill>
                <a:latin typeface="Cambria"/>
                <a:ea typeface="Cambria"/>
                <a:cs typeface="Cambria"/>
                <a:sym typeface="Cambria"/>
              </a:rPr>
              <a:t>87.50%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6912864" y="2459736"/>
            <a:ext cx="44622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of health claims settled by number in FY25 — roughly one in eight goes unpaid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6912864" y="2953512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6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D99A6"/>
                </a:solidFill>
                <a:latin typeface="Calibri"/>
                <a:ea typeface="Calibri"/>
                <a:cs typeface="Calibri"/>
                <a:sym typeface="Calibri"/>
              </a:rPr>
              <a:t>IRDAI, via Ministry of Finance, March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656832" y="3355848"/>
            <a:ext cx="4956048" cy="1371600"/>
          </a:xfrm>
          <a:prstGeom prst="roundRect">
            <a:avLst>
              <a:gd fmla="val 4000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6912864" y="34747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08A2E"/>
                </a:solidFill>
                <a:latin typeface="Cambria"/>
                <a:ea typeface="Cambria"/>
                <a:cs typeface="Cambria"/>
                <a:sym typeface="Cambria"/>
              </a:rPr>
              <a:t>61.5%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6912864" y="3941064"/>
            <a:ext cx="44622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of all Insurance Ombudsman complaints in FY25 were health insurance: 32,655 of 53,102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6912864" y="4434840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6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D99A6"/>
                </a:solidFill>
                <a:latin typeface="Calibri"/>
                <a:ea typeface="Calibri"/>
                <a:cs typeface="Calibri"/>
                <a:sym typeface="Calibri"/>
              </a:rPr>
              <a:t>Council for Insurance Ombudsmen, Annual Report 2024-25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656832" y="4837176"/>
            <a:ext cx="4956048" cy="1371600"/>
          </a:xfrm>
          <a:prstGeom prst="roundRect">
            <a:avLst>
              <a:gd fmla="val 4000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6912864" y="495604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08A2E"/>
                </a:solidFill>
                <a:latin typeface="Cambria"/>
                <a:ea typeface="Cambria"/>
                <a:cs typeface="Cambria"/>
                <a:sym typeface="Cambria"/>
              </a:rPr>
              <a:t>43.4%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6912864" y="5422392"/>
            <a:ext cx="44622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of India's total health spending is still paid out of pocket by households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6912864" y="5916168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6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D99A6"/>
                </a:solidFill>
                <a:latin typeface="Calibri"/>
                <a:ea typeface="Calibri"/>
                <a:cs typeface="Calibri"/>
                <a:sym typeface="Calibri"/>
              </a:rPr>
              <a:t>National Health Accounts 2022-23, released May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/>
        </p:nvSpPr>
        <p:spPr>
          <a:xfrm>
            <a:off x="566928" y="502920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PROBLEM STATEMENT  ·  THE GAP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566928" y="777240"/>
            <a:ext cx="11027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When a rejection is contested, it is close to a coin flip. Almost nobody contests.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566928" y="1975104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Health claims that go unpaid each year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864608" y="2039112"/>
            <a:ext cx="5029200" cy="420624"/>
          </a:xfrm>
          <a:prstGeom prst="roundRect">
            <a:avLst>
              <a:gd fmla="val 8696" name="adj"/>
            </a:avLst>
          </a:prstGeom>
          <a:solidFill>
            <a:srgbClr val="1C4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10040112" y="1975104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96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4966"/>
                </a:solidFill>
                <a:latin typeface="Calibri"/>
                <a:ea typeface="Calibri"/>
                <a:cs typeface="Calibri"/>
                <a:sym typeface="Calibri"/>
              </a:rPr>
              <a:t>Millions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566928" y="2679192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Health complaints that reach the Insurance Ombudsman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864608" y="2743200"/>
            <a:ext cx="3383280" cy="420624"/>
          </a:xfrm>
          <a:prstGeom prst="roundRect">
            <a:avLst>
              <a:gd fmla="val 8696" name="adj"/>
            </a:avLst>
          </a:prstGeom>
          <a:solidFill>
            <a:srgbClr val="1C4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8394192" y="267919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96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4966"/>
                </a:solidFill>
                <a:latin typeface="Calibri"/>
                <a:ea typeface="Calibri"/>
                <a:cs typeface="Calibri"/>
                <a:sym typeface="Calibri"/>
              </a:rPr>
              <a:t>32,655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566928" y="3383280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Complaints decided by a formal award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864608" y="3447288"/>
            <a:ext cx="1920240" cy="420624"/>
          </a:xfrm>
          <a:prstGeom prst="roundRect">
            <a:avLst>
              <a:gd fmla="val 8696" name="adj"/>
            </a:avLst>
          </a:prstGeom>
          <a:solidFill>
            <a:srgbClr val="1C4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 txBox="1"/>
          <p:nvPr/>
        </p:nvSpPr>
        <p:spPr>
          <a:xfrm>
            <a:off x="6931152" y="33832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96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4966"/>
                </a:solidFill>
                <a:latin typeface="Calibri"/>
                <a:ea typeface="Calibri"/>
                <a:cs typeface="Calibri"/>
                <a:sym typeface="Calibri"/>
              </a:rPr>
              <a:t>18,171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566928" y="4087368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Awards issued in the policyholder's favour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864608" y="4151376"/>
            <a:ext cx="1005840" cy="420624"/>
          </a:xfrm>
          <a:prstGeom prst="roundRect">
            <a:avLst>
              <a:gd fmla="val 8696" name="adj"/>
            </a:avLst>
          </a:prstGeom>
          <a:solidFill>
            <a:srgbClr val="2E7D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6016752" y="4087368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9,234  ·  50.8%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66928" y="4828032"/>
            <a:ext cx="5486400" cy="1042416"/>
          </a:xfrm>
          <a:prstGeom prst="roundRect">
            <a:avLst>
              <a:gd fmla="val 5263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 txBox="1"/>
          <p:nvPr/>
        </p:nvSpPr>
        <p:spPr>
          <a:xfrm>
            <a:off x="822960" y="4974336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The bottleneck is not merit.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822960" y="5248656"/>
            <a:ext cx="497433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Roughly half of the rejections that get properly examined turn out to be wrong. The barrier is that examining one requires legal skill.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309360" y="4828032"/>
            <a:ext cx="5303520" cy="1042416"/>
          </a:xfrm>
          <a:prstGeom prst="roundRect">
            <a:avLst>
              <a:gd fmla="val 5263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 txBox="1"/>
          <p:nvPr/>
        </p:nvSpPr>
        <p:spPr>
          <a:xfrm>
            <a:off x="6565392" y="4974336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The only existing help is human, and it does not scale.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6565392" y="5248656"/>
            <a:ext cx="479145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Insurance Samadhan, the leading claim-advocacy service, has handled 20,000+ grievances since 2018 — at ₹999 plus a 20% success fee. Expert hours are the constraint.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566928" y="6053328"/>
            <a:ext cx="110276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D99A6"/>
                </a:solidFill>
                <a:latin typeface="Calibri"/>
                <a:ea typeface="Calibri"/>
                <a:cs typeface="Calibri"/>
                <a:sym typeface="Calibri"/>
              </a:rPr>
              <a:t>Ombudsman figures: Council for Insurance Ombudsmen Annual Report 2024-25, statement L1G1H1. “In the policyholder's favour” counts formal awards only, excluding mediated recommendations and withdrawals.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/>
        </p:nvSpPr>
        <p:spPr>
          <a:xfrm>
            <a:off x="566928" y="502920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566928" y="777240"/>
            <a:ext cx="11027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Two documents in. A decision and a letter out.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566928" y="1609344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Pratikar needs nothing the policyholder does not already have. No account, no insurer integration, no data we are not handed.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66928" y="2157984"/>
            <a:ext cx="2606040" cy="2907792"/>
          </a:xfrm>
          <a:prstGeom prst="roundRect">
            <a:avLst>
              <a:gd fmla="val 2105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841248" y="2395728"/>
            <a:ext cx="384048" cy="384048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841248" y="23957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841248" y="2907792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Upload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841248" y="3328416"/>
            <a:ext cx="205740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The rejection letter — a phone photo is fine — and the policy wording PDF the insurer already publishes.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374136" y="2157984"/>
            <a:ext cx="2606040" cy="2907792"/>
          </a:xfrm>
          <a:prstGeom prst="roundRect">
            <a:avLst>
              <a:gd fmla="val 2105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3648456" y="2395728"/>
            <a:ext cx="384048" cy="384048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3648456" y="23957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3648456" y="2907792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Locate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3648456" y="3328416"/>
            <a:ext cx="205740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We extract the insurer's stated ground and the clause it cites, then pull that clause verbatim out of your policy with its page number.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181344" y="2157984"/>
            <a:ext cx="2606040" cy="2907792"/>
          </a:xfrm>
          <a:prstGeom prst="roundRect">
            <a:avLst>
              <a:gd fmla="val 2105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455664" y="2395728"/>
            <a:ext cx="384048" cy="384048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6455664" y="23957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6455664" y="2907792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Test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6455664" y="3328416"/>
            <a:ext cx="205740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The cited clause is checked against the policy's own wording and against IRDAI's published rules: waiting periods, moratorium, turnaround times, non-payable items.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8988552" y="2157984"/>
            <a:ext cx="2606040" cy="2907792"/>
          </a:xfrm>
          <a:prstGeom prst="roundRect">
            <a:avLst>
              <a:gd fmla="val 2105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9262872" y="2395728"/>
            <a:ext cx="384048" cy="384048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 txBox="1"/>
          <p:nvPr/>
        </p:nvSpPr>
        <p:spPr>
          <a:xfrm>
            <a:off x="9262872" y="23957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9262872" y="2907792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Deliver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9262872" y="3328416"/>
            <a:ext cx="205740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A contestability verdict, an evidence trail for every statement, and a ready-to-file appeal — in English or Hindi.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66928" y="5285232"/>
            <a:ext cx="11027664" cy="841248"/>
          </a:xfrm>
          <a:prstGeom prst="roundRect">
            <a:avLst>
              <a:gd fmla="val 6522" name="adj"/>
            </a:avLst>
          </a:prstGeom>
          <a:solidFill>
            <a:srgbClr val="12293D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 txBox="1"/>
          <p:nvPr/>
        </p:nvSpPr>
        <p:spPr>
          <a:xfrm>
            <a:off x="886968" y="542239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It also tells you when not to appeal.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886968" y="5715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B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BBCC"/>
                </a:solidFill>
                <a:latin typeface="Calibri"/>
                <a:ea typeface="Calibri"/>
                <a:cs typeface="Calibri"/>
                <a:sym typeface="Calibri"/>
              </a:rPr>
              <a:t>A Weak verdict explains why the rejection stands and saves the family a pointless fight. A tool that always says “appeal” is not advice — it is noise.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/>
        </p:nvSpPr>
        <p:spPr>
          <a:xfrm>
            <a:off x="566928" y="502920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PROPOSED SOLUTION  ·  OUTPUT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566928" y="777240"/>
            <a:ext cx="11027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What the policyholder actually receives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66928" y="1810512"/>
            <a:ext cx="3523488" cy="2761488"/>
          </a:xfrm>
          <a:prstGeom prst="roundRect">
            <a:avLst>
              <a:gd fmla="val 1987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566928" y="1810512"/>
            <a:ext cx="3523488" cy="82296"/>
          </a:xfrm>
          <a:prstGeom prst="rect">
            <a:avLst/>
          </a:prstGeom>
          <a:solidFill>
            <a:srgbClr val="E08A2E"/>
          </a:solidFill>
          <a:ln cap="flat" cmpd="sng" w="12700">
            <a:solidFill>
              <a:srgbClr val="E0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859536" y="2084832"/>
            <a:ext cx="29382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Contestability verdict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859536" y="2560320"/>
            <a:ext cx="293827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Strong, Moderate or Weak — with the specific reason for each, written in plain language rather than policy jargon.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59536" y="3913632"/>
            <a:ext cx="2938272" cy="457200"/>
          </a:xfrm>
          <a:prstGeom prst="roundRect">
            <a:avLst>
              <a:gd fmla="val 10000" name="adj"/>
            </a:avLst>
          </a:prstGeom>
          <a:solidFill>
            <a:srgbClr val="F2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 txBox="1"/>
          <p:nvPr/>
        </p:nvSpPr>
        <p:spPr>
          <a:xfrm>
            <a:off x="859536" y="3913632"/>
            <a:ext cx="2938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496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4966"/>
                </a:solidFill>
                <a:latin typeface="Calibri"/>
                <a:ea typeface="Calibri"/>
                <a:cs typeface="Calibri"/>
                <a:sym typeface="Calibri"/>
              </a:rPr>
              <a:t>Strong  ·  Moderate  ·  Weak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319016" y="1810512"/>
            <a:ext cx="3523488" cy="2761488"/>
          </a:xfrm>
          <a:prstGeom prst="roundRect">
            <a:avLst>
              <a:gd fmla="val 1987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319016" y="1810512"/>
            <a:ext cx="3523488" cy="82296"/>
          </a:xfrm>
          <a:prstGeom prst="rect">
            <a:avLst/>
          </a:prstGeom>
          <a:solidFill>
            <a:srgbClr val="E08A2E"/>
          </a:solidFill>
          <a:ln cap="flat" cmpd="sng" w="12700">
            <a:solidFill>
              <a:srgbClr val="E0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4611624" y="2084832"/>
            <a:ext cx="29382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Evidence trail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4611624" y="2560320"/>
            <a:ext cx="293827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Every statement links to its source: a page span in your own policy, or a named IRDAI provision. Nothing is asserted without a citation.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611624" y="3913632"/>
            <a:ext cx="2938272" cy="457200"/>
          </a:xfrm>
          <a:prstGeom prst="roundRect">
            <a:avLst>
              <a:gd fmla="val 10000" name="adj"/>
            </a:avLst>
          </a:prstGeom>
          <a:solidFill>
            <a:srgbClr val="F2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4611624" y="3913632"/>
            <a:ext cx="2938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496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4966"/>
                </a:solidFill>
                <a:latin typeface="Calibri"/>
                <a:ea typeface="Calibri"/>
                <a:cs typeface="Calibri"/>
                <a:sym typeface="Calibri"/>
              </a:rPr>
              <a:t>Policy p.14  ·  Circular cl.13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071104" y="1810512"/>
            <a:ext cx="3523488" cy="2761488"/>
          </a:xfrm>
          <a:prstGeom prst="roundRect">
            <a:avLst>
              <a:gd fmla="val 1987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8071104" y="1810512"/>
            <a:ext cx="3523488" cy="82296"/>
          </a:xfrm>
          <a:prstGeom prst="rect">
            <a:avLst/>
          </a:prstGeom>
          <a:solidFill>
            <a:srgbClr val="E08A2E"/>
          </a:solidFill>
          <a:ln cap="flat" cmpd="sng" w="12700">
            <a:solidFill>
              <a:srgbClr val="E0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8363712" y="2084832"/>
            <a:ext cx="29382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Appeal pack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8363712" y="2560320"/>
            <a:ext cx="293827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A grievance-officer letter, the portal complaint text and the Ombudsman form — with the escalation clock shown.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8363712" y="3913632"/>
            <a:ext cx="2938272" cy="457200"/>
          </a:xfrm>
          <a:prstGeom prst="roundRect">
            <a:avLst>
              <a:gd fmla="val 10000" name="adj"/>
            </a:avLst>
          </a:prstGeom>
          <a:solidFill>
            <a:srgbClr val="F2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8363712" y="3913632"/>
            <a:ext cx="2938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496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4966"/>
                </a:solidFill>
                <a:latin typeface="Calibri"/>
                <a:ea typeface="Calibri"/>
                <a:cs typeface="Calibri"/>
                <a:sym typeface="Calibri"/>
              </a:rPr>
              <a:t>GRO 15 days → Ombudsman 1 year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66928" y="4846320"/>
            <a:ext cx="11027664" cy="969264"/>
          </a:xfrm>
          <a:prstGeom prst="roundRect">
            <a:avLst>
              <a:gd fmla="val 5660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859536" y="50017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Not legal representation.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859536" y="5294376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Pratikar prepares documents the policyholder files themselves, and always shows the statutory deadline they must not miss. Where the documents do not support a conclusion, it says so rather than guessing.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93D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/>
        </p:nvSpPr>
        <p:spPr>
          <a:xfrm>
            <a:off x="566928" y="502920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INNOVATION  ·  WHAT MAKES THIS DIFFERENT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566928" y="777240"/>
            <a:ext cx="11027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model is never allowed to make the legal claim.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566928" y="1609344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B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8BBCC"/>
                </a:solidFill>
                <a:latin typeface="Calibri"/>
                <a:ea typeface="Calibri"/>
                <a:cs typeface="Calibri"/>
                <a:sym typeface="Calibri"/>
              </a:rPr>
              <a:t>Half the entries at any hackathon are a language model behind a prompt. Ours is deliberately constrained, because the output is a document someone files in a legal process.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66928" y="2139696"/>
            <a:ext cx="384048" cy="384048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566928" y="21396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1170432" y="210312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08A2E"/>
                </a:solidFill>
                <a:latin typeface="Cambria"/>
                <a:ea typeface="Cambria"/>
                <a:cs typeface="Cambria"/>
                <a:sym typeface="Cambria"/>
              </a:rPr>
              <a:t>Deterministic rules run first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1170432" y="2468880"/>
            <a:ext cx="10058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A8BB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8BBCC"/>
                </a:solidFill>
                <a:latin typeface="Calibri"/>
                <a:ea typeface="Calibri"/>
                <a:cs typeface="Calibri"/>
                <a:sym typeface="Calibri"/>
              </a:rPr>
              <a:t>IRDAI's Master Circular on Health Insurance is coded as explicit, testable rules — the 60-month moratorium, the one-hour cashless decision, the three-hour discharge authorisation, the 146 standardised non-payable items. These are yes/no facts, decided without a model at all, and they catch a large share of invalid rejections on their own.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66928" y="3419856"/>
            <a:ext cx="384048" cy="384048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566928" y="3419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1170432" y="338328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08A2E"/>
                </a:solidFill>
                <a:latin typeface="Cambria"/>
                <a:ea typeface="Cambria"/>
                <a:cs typeface="Cambria"/>
                <a:sym typeface="Cambria"/>
              </a:rPr>
              <a:t>Quote-or-abstain retrieval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1170432" y="3749040"/>
            <a:ext cx="10058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A8BB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8BBCC"/>
                </a:solidFill>
                <a:latin typeface="Calibri"/>
                <a:ea typeface="Calibri"/>
                <a:cs typeface="Calibri"/>
                <a:sym typeface="Calibri"/>
              </a:rPr>
              <a:t>Where judgement is needed, the model may only cite text that exists in the policy the user uploaded, with a page reference. If a statement cannot be grounded in the documents provided, the system returns “not determinable” instead of guessing. This is enforced at generation, not checked afterwards.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66928" y="4700016"/>
            <a:ext cx="384048" cy="384048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566928" y="47000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1170432" y="46634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08A2E"/>
                </a:solidFill>
                <a:latin typeface="Cambria"/>
                <a:ea typeface="Cambria"/>
                <a:cs typeface="Cambria"/>
                <a:sym typeface="Cambria"/>
              </a:rPr>
              <a:t>Patient-side by design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1170432" y="5029200"/>
            <a:ext cx="10058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A8BB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8BBCC"/>
                </a:solidFill>
                <a:latin typeface="Calibri"/>
                <a:ea typeface="Calibri"/>
                <a:cs typeface="Calibri"/>
                <a:sym typeface="Calibri"/>
              </a:rPr>
              <a:t>India's funded claims-AI companies sell faster adjudication to hospitals and insurers. A patient-side advocate is a direct business-model conflict for every one of them. The gap we are entering is structural — not an execution gap a better-resourced team simply closes.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566928" y="6053328"/>
            <a:ext cx="110276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D99A6"/>
                </a:solidFill>
                <a:latin typeface="Calibri"/>
                <a:ea typeface="Calibri"/>
                <a:cs typeface="Calibri"/>
                <a:sym typeface="Calibri"/>
              </a:rPr>
              <a:t>IRDAI/HLT/CIR/PRO/84/5/2024 dated 29.05.2024; standardised non-payable items per IRDAI/HLT/REG/CIR/193/07/2020.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/>
        </p:nvSpPr>
        <p:spPr>
          <a:xfrm>
            <a:off x="566928" y="502920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TECHNOLOGY / APPROACH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566928" y="777240"/>
            <a:ext cx="11027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Two independent paths, one cited answer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566928" y="160934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D99A6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66928" y="1865376"/>
            <a:ext cx="2194560" cy="731520"/>
          </a:xfrm>
          <a:prstGeom prst="roundRect">
            <a:avLst>
              <a:gd fmla="val 6250" name="adj"/>
            </a:avLst>
          </a:prstGeom>
          <a:solidFill>
            <a:srgbClr val="F2F4F6"/>
          </a:solidFill>
          <a:ln cap="flat" cmpd="sng" w="9525">
            <a:solidFill>
              <a:srgbClr val="F2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713232" y="1965960"/>
            <a:ext cx="1901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Rejection letter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713232" y="2231136"/>
            <a:ext cx="1901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photo or PDF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66928" y="2706624"/>
            <a:ext cx="2194560" cy="731520"/>
          </a:xfrm>
          <a:prstGeom prst="roundRect">
            <a:avLst>
              <a:gd fmla="val 6250" name="adj"/>
            </a:avLst>
          </a:prstGeom>
          <a:solidFill>
            <a:srgbClr val="F2F4F6"/>
          </a:solidFill>
          <a:ln cap="flat" cmpd="sng" w="9525">
            <a:solidFill>
              <a:srgbClr val="F2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713232" y="2807208"/>
            <a:ext cx="1901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Policy wording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713232" y="3072384"/>
            <a:ext cx="1901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40–80 page PDF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9"/>
          <p:cNvCxnSpPr/>
          <p:nvPr/>
        </p:nvCxnSpPr>
        <p:spPr>
          <a:xfrm>
            <a:off x="2798064" y="265176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9AA7B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9"/>
          <p:cNvSpPr txBox="1"/>
          <p:nvPr/>
        </p:nvSpPr>
        <p:spPr>
          <a:xfrm>
            <a:off x="3310128" y="160934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D99A6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3310128" y="2029968"/>
            <a:ext cx="2103120" cy="1243584"/>
          </a:xfrm>
          <a:prstGeom prst="roundRect">
            <a:avLst>
              <a:gd fmla="val 3676" name="adj"/>
            </a:avLst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3456432" y="2130552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Structured facts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3456432" y="2395728"/>
            <a:ext cx="18105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insurer · claim value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stated ground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cited clause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policy tenure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9"/>
          <p:cNvCxnSpPr/>
          <p:nvPr/>
        </p:nvCxnSpPr>
        <p:spPr>
          <a:xfrm>
            <a:off x="5449824" y="2249424"/>
            <a:ext cx="384048" cy="0"/>
          </a:xfrm>
          <a:prstGeom prst="straightConnector1">
            <a:avLst/>
          </a:prstGeom>
          <a:noFill/>
          <a:ln cap="flat" cmpd="sng" w="19050">
            <a:solidFill>
              <a:srgbClr val="9AA7B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" name="Google Shape;181;p9"/>
          <p:cNvCxnSpPr/>
          <p:nvPr/>
        </p:nvCxnSpPr>
        <p:spPr>
          <a:xfrm>
            <a:off x="5449824" y="3054096"/>
            <a:ext cx="384048" cy="0"/>
          </a:xfrm>
          <a:prstGeom prst="straightConnector1">
            <a:avLst/>
          </a:prstGeom>
          <a:noFill/>
          <a:ln cap="flat" cmpd="sng" w="19050">
            <a:solidFill>
              <a:srgbClr val="9AA7B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2" name="Google Shape;182;p9"/>
          <p:cNvSpPr txBox="1"/>
          <p:nvPr/>
        </p:nvSpPr>
        <p:spPr>
          <a:xfrm>
            <a:off x="5870448" y="160934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D99A6"/>
                </a:solidFill>
                <a:latin typeface="Calibri"/>
                <a:ea typeface="Calibri"/>
                <a:cs typeface="Calibri"/>
                <a:sym typeface="Calibri"/>
              </a:rPr>
              <a:t>REASON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870448" y="1865376"/>
            <a:ext cx="3703320" cy="841248"/>
          </a:xfrm>
          <a:prstGeom prst="roundRect">
            <a:avLst>
              <a:gd fmla="val 5435" name="adj"/>
            </a:avLst>
          </a:prstGeom>
          <a:solidFill>
            <a:srgbClr val="2E7D5B"/>
          </a:solidFill>
          <a:ln cap="flat" cmpd="sng" w="95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6016752" y="1965960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· Deterministic rule engine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6016752" y="2231136"/>
            <a:ext cx="34107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D6E8D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8DE"/>
                </a:solidFill>
                <a:latin typeface="Calibri"/>
                <a:ea typeface="Calibri"/>
                <a:cs typeface="Calibri"/>
                <a:sym typeface="Calibri"/>
              </a:rPr>
              <a:t>IRDAI provisions as coded rules. No model involved.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870448" y="2779776"/>
            <a:ext cx="3703320" cy="841248"/>
          </a:xfrm>
          <a:prstGeom prst="roundRect">
            <a:avLst>
              <a:gd fmla="val 5435" name="adj"/>
            </a:avLst>
          </a:prstGeom>
          <a:solidFill>
            <a:srgbClr val="1C4966"/>
          </a:solidFill>
          <a:ln cap="flat" cmpd="sng" w="9525">
            <a:solidFill>
              <a:srgbClr val="1C4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6016752" y="2880360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 · Grounded clause retrieval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6016752" y="3145536"/>
            <a:ext cx="34107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C3D6E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3D6E4"/>
                </a:solidFill>
                <a:latin typeface="Calibri"/>
                <a:ea typeface="Calibri"/>
                <a:cs typeface="Calibri"/>
                <a:sym typeface="Calibri"/>
              </a:rPr>
              <a:t>Verbatim spans from the user's own policy. Quote-or-abstain.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9"/>
          <p:cNvCxnSpPr/>
          <p:nvPr/>
        </p:nvCxnSpPr>
        <p:spPr>
          <a:xfrm>
            <a:off x="9610344" y="228600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9AA7B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" name="Google Shape;190;p9"/>
          <p:cNvCxnSpPr/>
          <p:nvPr/>
        </p:nvCxnSpPr>
        <p:spPr>
          <a:xfrm>
            <a:off x="9610344" y="320040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9AA7B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" name="Google Shape;191;p9"/>
          <p:cNvSpPr/>
          <p:nvPr/>
        </p:nvSpPr>
        <p:spPr>
          <a:xfrm>
            <a:off x="10012680" y="2103120"/>
            <a:ext cx="1600200" cy="1280160"/>
          </a:xfrm>
          <a:prstGeom prst="roundRect">
            <a:avLst>
              <a:gd fmla="val 3571" name="adj"/>
            </a:avLst>
          </a:prstGeom>
          <a:solidFill>
            <a:srgbClr val="12293D"/>
          </a:solidFill>
          <a:ln cap="flat" cmpd="sng" w="9525">
            <a:solidFill>
              <a:srgbClr val="12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10158984" y="2203704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Merge + cite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10158984" y="2468880"/>
            <a:ext cx="13075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A8BB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BBCC"/>
                </a:solidFill>
                <a:latin typeface="Calibri"/>
                <a:ea typeface="Calibri"/>
                <a:cs typeface="Calibri"/>
                <a:sym typeface="Calibri"/>
              </a:rPr>
              <a:t>every line traceable to its source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9"/>
          <p:cNvCxnSpPr/>
          <p:nvPr/>
        </p:nvCxnSpPr>
        <p:spPr>
          <a:xfrm>
            <a:off x="10808208" y="3383280"/>
            <a:ext cx="0" cy="786384"/>
          </a:xfrm>
          <a:prstGeom prst="straightConnector1">
            <a:avLst/>
          </a:prstGeom>
          <a:noFill/>
          <a:ln cap="flat" cmpd="sng" w="19050">
            <a:solidFill>
              <a:srgbClr val="9AA7B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9"/>
          <p:cNvCxnSpPr/>
          <p:nvPr/>
        </p:nvCxnSpPr>
        <p:spPr>
          <a:xfrm>
            <a:off x="1869948" y="4169664"/>
            <a:ext cx="8938260" cy="0"/>
          </a:xfrm>
          <a:prstGeom prst="straightConnector1">
            <a:avLst/>
          </a:prstGeom>
          <a:noFill/>
          <a:ln cap="flat" cmpd="sng" w="19050">
            <a:solidFill>
              <a:srgbClr val="9AA7B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9"/>
          <p:cNvCxnSpPr/>
          <p:nvPr/>
        </p:nvCxnSpPr>
        <p:spPr>
          <a:xfrm>
            <a:off x="1869948" y="4169664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9AA7B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" name="Google Shape;197;p9"/>
          <p:cNvCxnSpPr/>
          <p:nvPr/>
        </p:nvCxnSpPr>
        <p:spPr>
          <a:xfrm>
            <a:off x="4677156" y="4169664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9AA7B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8" name="Google Shape;198;p9"/>
          <p:cNvCxnSpPr/>
          <p:nvPr/>
        </p:nvCxnSpPr>
        <p:spPr>
          <a:xfrm>
            <a:off x="7484364" y="4169664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9AA7B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9" name="Google Shape;199;p9"/>
          <p:cNvCxnSpPr/>
          <p:nvPr/>
        </p:nvCxnSpPr>
        <p:spPr>
          <a:xfrm>
            <a:off x="10291572" y="4169664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9AA7B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0" name="Google Shape;200;p9"/>
          <p:cNvSpPr txBox="1"/>
          <p:nvPr/>
        </p:nvSpPr>
        <p:spPr>
          <a:xfrm>
            <a:off x="566928" y="384048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D99A6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66928" y="4425696"/>
            <a:ext cx="2606040" cy="777240"/>
          </a:xfrm>
          <a:prstGeom prst="roundRect">
            <a:avLst>
              <a:gd fmla="val 5882" name="adj"/>
            </a:avLst>
          </a:prstGeom>
          <a:solidFill>
            <a:srgbClr val="F2F4F6"/>
          </a:solidFill>
          <a:ln cap="flat" cmpd="sng" w="9525">
            <a:solidFill>
              <a:srgbClr val="F2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713232" y="4526280"/>
            <a:ext cx="2313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Verdict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713232" y="4791456"/>
            <a:ext cx="2313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strong / moderate / weak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374136" y="4425696"/>
            <a:ext cx="2606040" cy="777240"/>
          </a:xfrm>
          <a:prstGeom prst="roundRect">
            <a:avLst>
              <a:gd fmla="val 5882" name="adj"/>
            </a:avLst>
          </a:prstGeom>
          <a:solidFill>
            <a:srgbClr val="F2F4F6"/>
          </a:solidFill>
          <a:ln cap="flat" cmpd="sng" w="9525">
            <a:solidFill>
              <a:srgbClr val="F2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3520440" y="4526280"/>
            <a:ext cx="2313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Evidence trail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3520440" y="4791456"/>
            <a:ext cx="2313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page-level source per 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181344" y="4425696"/>
            <a:ext cx="2606040" cy="777240"/>
          </a:xfrm>
          <a:prstGeom prst="roundRect">
            <a:avLst>
              <a:gd fmla="val 5882" name="adj"/>
            </a:avLst>
          </a:prstGeom>
          <a:solidFill>
            <a:srgbClr val="F2F4F6"/>
          </a:solidFill>
          <a:ln cap="flat" cmpd="sng" w="9525">
            <a:solidFill>
              <a:srgbClr val="F2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 txBox="1"/>
          <p:nvPr/>
        </p:nvSpPr>
        <p:spPr>
          <a:xfrm>
            <a:off x="6327648" y="4526280"/>
            <a:ext cx="2313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Appeal pack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6327648" y="4791456"/>
            <a:ext cx="2313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GRO · portal · ombudsman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8988552" y="4425696"/>
            <a:ext cx="2606040" cy="777240"/>
          </a:xfrm>
          <a:prstGeom prst="roundRect">
            <a:avLst>
              <a:gd fmla="val 5882" name="adj"/>
            </a:avLst>
          </a:prstGeom>
          <a:solidFill>
            <a:srgbClr val="F2F4F6"/>
          </a:solidFill>
          <a:ln cap="flat" cmpd="sng" w="9525">
            <a:solidFill>
              <a:srgbClr val="F2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9134856" y="4526280"/>
            <a:ext cx="2313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Regional language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9134856" y="4791456"/>
            <a:ext cx="2313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Hindi 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66928" y="5431536"/>
            <a:ext cx="11027664" cy="694944"/>
          </a:xfrm>
          <a:prstGeom prst="roundRect">
            <a:avLst>
              <a:gd fmla="val 7895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841248" y="5577840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Path A produces answers we can prove without a model. Path B produces answers grounded in quoted text. Neither is free to invent — which is how we answer “what if the AI gets it wrong?”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 txBox="1"/>
          <p:nvPr/>
        </p:nvSpPr>
        <p:spPr>
          <a:xfrm>
            <a:off x="566928" y="502920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TECHNOLOGY / APPROACH  ·  STACK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566928" y="777240"/>
            <a:ext cx="11027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Chosen for speed, free tiers, and two developers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66928" y="1828800"/>
            <a:ext cx="6446520" cy="347472"/>
          </a:xfrm>
          <a:prstGeom prst="rect">
            <a:avLst/>
          </a:prstGeom>
          <a:solidFill>
            <a:srgbClr val="12293D"/>
          </a:solidFill>
          <a:ln cap="flat" cmpd="sng" w="12700">
            <a:solidFill>
              <a:srgbClr val="12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749808" y="18288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2670048" y="182880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566928" y="2176272"/>
            <a:ext cx="6446520" cy="457200"/>
          </a:xfrm>
          <a:prstGeom prst="rect">
            <a:avLst/>
          </a:prstGeom>
          <a:solidFill>
            <a:srgbClr val="F2F4F6"/>
          </a:solidFill>
          <a:ln cap="flat" cmpd="sng" w="12700">
            <a:solidFill>
              <a:srgbClr val="F2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749808" y="2176272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2670048" y="217627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React + Vite + Tailwind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749808" y="2633472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2670048" y="263347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FastAPI (Python)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66928" y="3090672"/>
            <a:ext cx="6446520" cy="457200"/>
          </a:xfrm>
          <a:prstGeom prst="rect">
            <a:avLst/>
          </a:prstGeom>
          <a:solidFill>
            <a:srgbClr val="F2F4F6"/>
          </a:solidFill>
          <a:ln cap="flat" cmpd="sng" w="12700">
            <a:solidFill>
              <a:srgbClr val="F2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749808" y="3090672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Document parsing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2670048" y="309067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PyMuPDF for policy PDFs; vision model for photographed letters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749808" y="3547872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Reasoning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2670048" y="354787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Long-context LLM, second provider configured as fallback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66928" y="4005072"/>
            <a:ext cx="6446520" cy="457200"/>
          </a:xfrm>
          <a:prstGeom prst="rect">
            <a:avLst/>
          </a:prstGeom>
          <a:solidFill>
            <a:srgbClr val="F2F4F6"/>
          </a:solidFill>
          <a:ln cap="flat" cmpd="sng" w="12700">
            <a:solidFill>
              <a:srgbClr val="F2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 txBox="1"/>
          <p:nvPr/>
        </p:nvSpPr>
        <p:spPr>
          <a:xfrm>
            <a:off x="749808" y="4005072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2670048" y="400507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pgvector on Supabase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/>
          <p:nvPr/>
        </p:nvSpPr>
        <p:spPr>
          <a:xfrm>
            <a:off x="749808" y="4462272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Rulebook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2670048" y="446227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IRDAI provisions hand-coded as testable rules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66928" y="4919472"/>
            <a:ext cx="6446520" cy="457200"/>
          </a:xfrm>
          <a:prstGeom prst="rect">
            <a:avLst/>
          </a:prstGeom>
          <a:solidFill>
            <a:srgbClr val="F2F4F6"/>
          </a:solidFill>
          <a:ln cap="flat" cmpd="sng" w="12700">
            <a:solidFill>
              <a:srgbClr val="F2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 txBox="1"/>
          <p:nvPr/>
        </p:nvSpPr>
        <p:spPr>
          <a:xfrm>
            <a:off x="749808" y="4919472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2670048" y="491947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Bhashini API, IndicTrans2 offline fallback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749808" y="5376672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2670048" y="537667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Vercel + Render, both free tier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7406640" y="1828800"/>
            <a:ext cx="4206240" cy="4005072"/>
          </a:xfrm>
          <a:prstGeom prst="roundRect">
            <a:avLst>
              <a:gd fmla="val 1370" name="adj"/>
            </a:avLst>
          </a:prstGeom>
          <a:solidFill>
            <a:srgbClr val="12293D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 txBox="1"/>
          <p:nvPr/>
        </p:nvSpPr>
        <p:spPr>
          <a:xfrm>
            <a:off x="7699248" y="2011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this is realistic for us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7699248" y="2450592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A8BBC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BBCC"/>
                </a:solidFill>
                <a:latin typeface="Calibri"/>
                <a:ea typeface="Calibri"/>
                <a:cs typeface="Calibri"/>
                <a:sym typeface="Calibri"/>
              </a:rPr>
              <a:t>No gated APIs. Nothing here needs a licence, a regulator's approval or a corporate entity.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900"/>
              </a:spcBef>
              <a:spcAft>
                <a:spcPts val="0"/>
              </a:spcAft>
              <a:buClr>
                <a:srgbClr val="A8BBC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BBCC"/>
                </a:solidFill>
                <a:latin typeface="Calibri"/>
                <a:ea typeface="Calibri"/>
                <a:cs typeface="Calibri"/>
                <a:sym typeface="Calibri"/>
              </a:rPr>
              <a:t>No simulated inputs. Every document in the demo is real.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900"/>
              </a:spcBef>
              <a:spcAft>
                <a:spcPts val="0"/>
              </a:spcAft>
              <a:buClr>
                <a:srgbClr val="A8BBC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BBCC"/>
                </a:solidFill>
                <a:latin typeface="Calibri"/>
                <a:ea typeface="Calibri"/>
                <a:cs typeface="Calibri"/>
                <a:sym typeface="Calibri"/>
              </a:rPr>
              <a:t>No model training. We orchestrate existing models under hard constraints.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900"/>
              </a:spcBef>
              <a:spcAft>
                <a:spcPts val="0"/>
              </a:spcAft>
              <a:buClr>
                <a:srgbClr val="A8BBC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BBCC"/>
                </a:solidFill>
                <a:latin typeface="Calibri"/>
                <a:ea typeface="Calibri"/>
                <a:cs typeface="Calibri"/>
                <a:sym typeface="Calibri"/>
              </a:rPr>
              <a:t>Public source material. Insurers must publish policy wordings; IRDAI circulars are public.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5454"/>
              </a:lnSpc>
              <a:spcBef>
                <a:spcPts val="900"/>
              </a:spcBef>
              <a:spcAft>
                <a:spcPts val="0"/>
              </a:spcAft>
              <a:buClr>
                <a:srgbClr val="A8BBC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BBCC"/>
                </a:solidFill>
                <a:latin typeface="Calibri"/>
                <a:ea typeface="Calibri"/>
                <a:cs typeface="Calibri"/>
                <a:sym typeface="Calibri"/>
              </a:rPr>
              <a:t>Partial credit is still a product. Verdict, evidence and one letter is complete on its own.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566928" y="6053328"/>
            <a:ext cx="110276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D99A6"/>
                </a:solidFill>
                <a:latin typeface="Calibri"/>
                <a:ea typeface="Calibri"/>
                <a:cs typeface="Calibri"/>
                <a:sym typeface="Calibri"/>
              </a:rPr>
              <a:t>Known constraint: Insurance Ombudsman awards are released only to the individual complainant, so case-precedent search is post-hackathon scope, not MVP.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"/>
          <p:cNvSpPr txBox="1"/>
          <p:nvPr/>
        </p:nvSpPr>
        <p:spPr>
          <a:xfrm>
            <a:off x="566928" y="502920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EXPECTED IMPACT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566928" y="777240"/>
            <a:ext cx="11027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Who this helps, and how it sustains itself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566928" y="1828800"/>
            <a:ext cx="5623560" cy="4023360"/>
          </a:xfrm>
          <a:prstGeom prst="roundRect">
            <a:avLst>
              <a:gd fmla="val 1364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 txBox="1"/>
          <p:nvPr/>
        </p:nvSpPr>
        <p:spPr>
          <a:xfrm>
            <a:off x="859536" y="19933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Impact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859536" y="2569464"/>
            <a:ext cx="118872" cy="118872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1078992" y="2505456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For the household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1078992" y="2779776"/>
            <a:ext cx="4846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A rejected claim is recovered rather than absorbed — in a country where households still pay 43.4% of all health spending out of pocket.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859536" y="3666744"/>
            <a:ext cx="118872" cy="118872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1078992" y="3602736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For the system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1078992" y="3877056"/>
            <a:ext cx="4846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Every contested and won rejection is evidence about which grounds insurers cannot sustain. Today that evidence sits inside awards nobody can read.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859536" y="4764024"/>
            <a:ext cx="118872" cy="118872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1078992" y="4700016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For scale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 txBox="1"/>
          <p:nvPr/>
        </p:nvSpPr>
        <p:spPr>
          <a:xfrm>
            <a:off x="1078992" y="4974336"/>
            <a:ext cx="4846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Health is 61.5% of all insurance grievances. The same architecture extends to motor and life claims — a different rulebook, the same method.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446520" y="1828800"/>
            <a:ext cx="5166360" cy="4023360"/>
          </a:xfrm>
          <a:prstGeom prst="roundRect">
            <a:avLst>
              <a:gd fmla="val 1364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6739128" y="199339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Business model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739128" y="2487168"/>
            <a:ext cx="4572000" cy="621792"/>
          </a:xfrm>
          <a:prstGeom prst="roundRect">
            <a:avLst>
              <a:gd fmla="val 7353" name="adj"/>
            </a:avLst>
          </a:prstGeom>
          <a:solidFill>
            <a:srgbClr val="2E7D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6739128" y="2487168"/>
            <a:ext cx="4572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 for individuals. Permanently.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 txBox="1"/>
          <p:nvPr/>
        </p:nvSpPr>
        <p:spPr>
          <a:xfrm>
            <a:off x="6739128" y="3255264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Revenue comes from the parties who handle rejections in volume, never from families at their worst moment: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 txBox="1"/>
          <p:nvPr/>
        </p:nvSpPr>
        <p:spPr>
          <a:xfrm>
            <a:off x="6739128" y="3840480"/>
            <a:ext cx="4572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Insurance agents and brokers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Hospital TPA and billing desks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Employer group-policy administrators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2293D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Legal-aid and consumer NGOs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1"/>
          <p:cNvCxnSpPr/>
          <p:nvPr/>
        </p:nvCxnSpPr>
        <p:spPr>
          <a:xfrm>
            <a:off x="6739128" y="5120640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11"/>
          <p:cNvSpPr txBox="1"/>
          <p:nvPr/>
        </p:nvSpPr>
        <p:spPr>
          <a:xfrm>
            <a:off x="6739128" y="5248656"/>
            <a:ext cx="4572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D99A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D99A6"/>
                </a:solidFill>
                <a:latin typeface="Calibri"/>
                <a:ea typeface="Calibri"/>
                <a:cs typeface="Calibri"/>
                <a:sym typeface="Calibri"/>
              </a:rPr>
              <a:t>Benchmark: Insurance Samadhan charges ₹999 plus a 20% success fee per case, delivered by human consultants.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 txBox="1"/>
          <p:nvPr/>
        </p:nvSpPr>
        <p:spPr>
          <a:xfrm>
            <a:off x="566928" y="502920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IMPLEMENTATION PLAN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566928" y="777240"/>
            <a:ext cx="110276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From here to the Grand Final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566928" y="1828800"/>
            <a:ext cx="2044598" cy="402336"/>
          </a:xfrm>
          <a:prstGeom prst="roundRect">
            <a:avLst>
              <a:gd fmla="val 11364" name="adj"/>
            </a:avLst>
          </a:prstGeom>
          <a:solidFill>
            <a:srgbClr val="2E7D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 txBox="1"/>
          <p:nvPr/>
        </p:nvSpPr>
        <p:spPr>
          <a:xfrm>
            <a:off x="566928" y="1828800"/>
            <a:ext cx="204459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566928" y="2340864"/>
            <a:ext cx="204459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Problem validated, competitors mapped, IRDAI rulebook drafted, architecture agreed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2812694" y="1828800"/>
            <a:ext cx="2044598" cy="402336"/>
          </a:xfrm>
          <a:prstGeom prst="roundRect">
            <a:avLst>
              <a:gd fmla="val 11364" name="adj"/>
            </a:avLst>
          </a:prstGeom>
          <a:solidFill>
            <a:srgbClr val="1C4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2812694" y="1828800"/>
            <a:ext cx="204459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14–16 Sep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2812694" y="2340864"/>
            <a:ext cx="204459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Core pipeline: ingest, extraction, clause retrieval, rule engine — first cited verdicts on real cases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058461" y="1828800"/>
            <a:ext cx="2044598" cy="402336"/>
          </a:xfrm>
          <a:prstGeom prst="roundRect">
            <a:avLst>
              <a:gd fmla="val 11364" name="adj"/>
            </a:avLst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5058461" y="1828800"/>
            <a:ext cx="204459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 Sep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5058461" y="2340864"/>
            <a:ext cx="204459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Mentoring round — demonstrate the working core, collect objections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7304227" y="1828800"/>
            <a:ext cx="2044598" cy="402336"/>
          </a:xfrm>
          <a:prstGeom prst="roundRect">
            <a:avLst>
              <a:gd fmla="val 11364" name="adj"/>
            </a:avLst>
          </a:prstGeom>
          <a:solidFill>
            <a:srgbClr val="1C4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7304227" y="1828800"/>
            <a:ext cx="204459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18–19 Sep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 txBox="1"/>
          <p:nvPr/>
        </p:nvSpPr>
        <p:spPr>
          <a:xfrm>
            <a:off x="7304227" y="2340864"/>
            <a:ext cx="204459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Appeal generation, Hindi output, evidence-trail interface, full test pass, demo hardening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9549994" y="1828800"/>
            <a:ext cx="2044598" cy="402336"/>
          </a:xfrm>
          <a:prstGeom prst="roundRect">
            <a:avLst>
              <a:gd fmla="val 11364" name="adj"/>
            </a:avLst>
          </a:prstGeom>
          <a:solidFill>
            <a:srgbClr val="12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9549994" y="1828800"/>
            <a:ext cx="204459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 Sep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 txBox="1"/>
          <p:nvPr/>
        </p:nvSpPr>
        <p:spPr>
          <a:xfrm>
            <a:off x="9549994" y="2340864"/>
            <a:ext cx="204459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Grand Final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 txBox="1"/>
          <p:nvPr/>
        </p:nvSpPr>
        <p:spPr>
          <a:xfrm>
            <a:off x="566928" y="3511296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Team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 txBox="1"/>
          <p:nvPr/>
        </p:nvSpPr>
        <p:spPr>
          <a:xfrm>
            <a:off x="566928" y="39319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Sid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 txBox="1"/>
          <p:nvPr/>
        </p:nvSpPr>
        <p:spPr>
          <a:xfrm>
            <a:off x="1682496" y="3931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Architecture, reasoning pipeline, grounding contract,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 txBox="1"/>
          <p:nvPr/>
        </p:nvSpPr>
        <p:spPr>
          <a:xfrm>
            <a:off x="566928" y="431596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Pratham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 txBox="1"/>
          <p:nvPr/>
        </p:nvSpPr>
        <p:spPr>
          <a:xfrm>
            <a:off x="1682496" y="431596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Ingest, APIs, database, deployment, frontend scaffolding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 txBox="1"/>
          <p:nvPr/>
        </p:nvSpPr>
        <p:spPr>
          <a:xfrm>
            <a:off x="566928" y="47000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Navya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 txBox="1"/>
          <p:nvPr/>
        </p:nvSpPr>
        <p:spPr>
          <a:xfrm>
            <a:off x="1682496" y="470001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IRDAI regulatory rulebook, real-case collection, domain research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 txBox="1"/>
          <p:nvPr/>
        </p:nvSpPr>
        <p:spPr>
          <a:xfrm>
            <a:off x="566928" y="50840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Parnika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1682496" y="5084064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Product design, evidence-trail interface, regional-language copy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566928" y="546811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Dhiraj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1682496" y="546811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Testing against ground truth, business case, documentation, demo backup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6720840" y="3511296"/>
            <a:ext cx="4892040" cy="2395728"/>
          </a:xfrm>
          <a:prstGeom prst="roundRect">
            <a:avLst>
              <a:gd fmla="val 2290" name="adj"/>
            </a:avLst>
          </a:prstGeom>
          <a:solidFill>
            <a:srgbClr val="F2F4F6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 txBox="1"/>
          <p:nvPr/>
        </p:nvSpPr>
        <p:spPr>
          <a:xfrm>
            <a:off x="6995160" y="36576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2293D"/>
                </a:solidFill>
                <a:latin typeface="Cambria"/>
                <a:ea typeface="Cambria"/>
                <a:cs typeface="Cambria"/>
                <a:sym typeface="Cambria"/>
              </a:rPr>
              <a:t>MVP scope, fixed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6995160" y="4078224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BUILDING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 txBox="1"/>
          <p:nvPr/>
        </p:nvSpPr>
        <p:spPr>
          <a:xfrm>
            <a:off x="6995160" y="4279392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Dual document upload · extraction · verbatim clause retrieval · IRDAI rule checks · verdict with evidence trail · one generated appeal letter · Hindi output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6995160" y="5120640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D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23D2B"/>
                </a:solidFill>
                <a:latin typeface="Calibri"/>
                <a:ea typeface="Calibri"/>
                <a:cs typeface="Calibri"/>
                <a:sym typeface="Calibri"/>
              </a:rPr>
              <a:t>NOT BUILDING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 txBox="1"/>
          <p:nvPr/>
        </p:nvSpPr>
        <p:spPr>
          <a:xfrm>
            <a:off x="6995160" y="5321808"/>
            <a:ext cx="4297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4515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515E"/>
                </a:solidFill>
                <a:latin typeface="Calibri"/>
                <a:ea typeface="Calibri"/>
                <a:cs typeface="Calibri"/>
                <a:sym typeface="Calibri"/>
              </a:rPr>
              <a:t>Accounts · dashboards · motor or life claims · mobile app · insurer portal · automated filing · payments · case-precedent search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93D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"/>
          <p:cNvSpPr txBox="1"/>
          <p:nvPr/>
        </p:nvSpPr>
        <p:spPr>
          <a:xfrm>
            <a:off x="566928" y="777240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8A2E"/>
                </a:solidFill>
                <a:latin typeface="Calibri"/>
                <a:ea typeface="Calibri"/>
                <a:cs typeface="Calibri"/>
                <a:sym typeface="Calibri"/>
              </a:rPr>
              <a:t>GRAND FINAL  ·  20 SEPTEMBER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566928" y="11430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you will see us demonstrate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566928" y="2331720"/>
            <a:ext cx="365760" cy="365760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 txBox="1"/>
          <p:nvPr/>
        </p:nvSpPr>
        <p:spPr>
          <a:xfrm>
            <a:off x="566928" y="23317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 txBox="1"/>
          <p:nvPr/>
        </p:nvSpPr>
        <p:spPr>
          <a:xfrm>
            <a:off x="1133856" y="230428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real rejection letter and a real 60-page policy, uploaded live.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66928" y="2990088"/>
            <a:ext cx="365760" cy="365760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 txBox="1"/>
          <p:nvPr/>
        </p:nvSpPr>
        <p:spPr>
          <a:xfrm>
            <a:off x="566928" y="29900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 txBox="1"/>
          <p:nvPr/>
        </p:nvSpPr>
        <p:spPr>
          <a:xfrm>
            <a:off x="1133856" y="2962656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verdict returned with every line traced back to its source.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566928" y="3648456"/>
            <a:ext cx="365760" cy="365760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 txBox="1"/>
          <p:nvPr/>
        </p:nvSpPr>
        <p:spPr>
          <a:xfrm>
            <a:off x="566928" y="36484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 txBox="1"/>
          <p:nvPr/>
        </p:nvSpPr>
        <p:spPr>
          <a:xfrm>
            <a:off x="1133856" y="3621024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appeal letter generated, then switched to Hindi.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566928" y="4306824"/>
            <a:ext cx="365760" cy="365760"/>
          </a:xfrm>
          <a:prstGeom prst="ellipse">
            <a:avLst/>
          </a:prstGeom>
          <a:solidFill>
            <a:srgbClr val="E08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 txBox="1"/>
          <p:nvPr/>
        </p:nvSpPr>
        <p:spPr>
          <a:xfrm>
            <a:off x="566928" y="43068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9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293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 txBox="1"/>
          <p:nvPr/>
        </p:nvSpPr>
        <p:spPr>
          <a:xfrm>
            <a:off x="1133856" y="4279392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second case where we tell the user the rejection is valid, and why.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13"/>
          <p:cNvCxnSpPr/>
          <p:nvPr/>
        </p:nvCxnSpPr>
        <p:spPr>
          <a:xfrm>
            <a:off x="566928" y="5212080"/>
            <a:ext cx="11027664" cy="0"/>
          </a:xfrm>
          <a:prstGeom prst="straightConnector1">
            <a:avLst/>
          </a:prstGeom>
          <a:noFill/>
          <a:ln cap="flat" cmpd="sng" w="12700">
            <a:solidFill>
              <a:srgbClr val="2A4A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3"/>
          <p:cNvSpPr txBox="1"/>
          <p:nvPr/>
        </p:nvSpPr>
        <p:spPr>
          <a:xfrm>
            <a:off x="566928" y="5431536"/>
            <a:ext cx="8503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E08A2E"/>
                </a:solidFill>
                <a:latin typeface="Cambria"/>
                <a:ea typeface="Cambria"/>
                <a:cs typeface="Cambria"/>
                <a:sym typeface="Cambria"/>
              </a:rPr>
              <a:t>Roughly half of the health-insurance rejections that get properly examined turn out to be wrong.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E08A2E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E08A2E"/>
                </a:solidFill>
                <a:latin typeface="Cambria"/>
                <a:ea typeface="Cambria"/>
                <a:cs typeface="Cambria"/>
                <a:sym typeface="Cambria"/>
              </a:rPr>
              <a:t>Almost nobody examines them. That is a software problem.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9326880" y="5477256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Pratikar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